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de partida: dónde se posiciona en precio cada gran cadena de moda en España y con quién se solapa. Esta versión amplía el análisis de 5 a 16 cadenas: se añaden Mango, Tendam (Springfield, Cortefiel, Pedro del Hierro, Women'secret) y seis marcas españolas de gama media-alta. Es un análisis de precio de catálogo, no de ventas ni de cuota.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historia en una frase: Inditex coloca Lefties, Zara y Massimo Dutti en tramos de precio distintos, cada uno aproximadamente al doble del anterior, y Tendam hace lo mismo un peldaño más arriba. La gama baja sigue siendo un duelo entre Lefties y Primark. La gama media, en cambio, deja de ser un cara a cara: Mango entra de lleno entre Zara y H&amp;M. Y Massimo Dutti ya no está solo: Cortefiel marca sus mismos precios de catálogo, aunque con muchas rebajas.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Dieciséis cadenas agrupadas por grupo empresarial o segmento. Comparamos solo prendas básicas, que son las más comparables entre marcas. Con menos de 5 modelos básicos no calculamos cuartiles ni solapamiento; esas marcas solo aparecen como puntos sueltos. Women'secret queda fuera porque es lencería y homewear y no vende vaqueros.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barra es el 50 % central de los modelos de una marca y el punto, su precio mediano. El eje está en escala logarítmica: cada línea de la cuadrícula duplica el precio, así que la zona barata no se aplasta y un salto "×2" mide siempre lo mismo. Las marcas premium solo tienen muestra suficiente en vaqueros; en camisetas aparecen como puntos sueltos.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Dividimos la mediana de cada escalón entre la del anterior. En Inditex sale de 1,7 a 2,0 veces en las dos prendas. Tendam escalona igual (×1,7 y ×2,0), pero empieza más arriba: Springfield cuesta lo que Zara y Cortefiel lo que Massimo Dutti. Ojo: casi todo Springfield y buena parte de Cortefiel estaban rebajados; con el precio rebajado, la escalera de Tendam baja.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Medimos cuánto se parecen los repartos de precio de cada pareja de marcas, por tramos. En negro, los choques que defendemos: aguantan al cambiar el ancho de los tramos (la rayita vertical). Los textos junto a las barras avisan cuando una cifra cae mucho con otros tramos o con el precio rebajado: Mango–Springfield o Springfield–Zara en camisetas parecen altos, pero son efecto del corte, como pasaba con H&amp;M–Lefties. Cortefiel–Massimo Dutti es real a precio de catálogo, pero depende de las rebajas.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Mango entra de lleno en la franja central de Zara. En vaqueros, el 56 % de sus modelos básicos está a 29,99 €, justo en el borde bajo de esa franja. El solapamiento con Zara es del 78 % y aguanta con tramos de 8 €. Quien posicione una marca en la gama media ya no puede compararse solo con Zara y H&amp;M.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conclusión no cambia con la ampliación (H&amp;M y Zara son los mismos datos). En camisetas, H&amp;M tiene tanta oferta por debajo de la franja central de Zara (31 %) como dentro (37 %) o por encima (32 %). En vaqueros, el 70 % de H&amp;M cae dentro de la franja de Zara. Y una advertencia: por la media, H&amp;M parece más cara que Zara; por la mediana es al revés. La media la sube una cola de productos caros de la propia H&amp;M.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precio de catálogo, Cortefiel cae justo encima de Massimo Dutti: 59,99 € frente a 59,95 € en vaquero y 29,99 € frente a 29,95 € en camiseta (medianas). Pero el 41 % de su catálogo estaba rebajado, con un descuento medio del 47 %. Con el precio que marcaba la web ese día, el solapamiento en vaqueros baja del 91 % al 56 %. No sabemos a qué precio se vende de verdad: solo vemos el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las marcas de gama media-alta hay dos niveles: Scalpers (mediana 69,99 €), junto a Silbon y El Ganso, que tienen muy pocos modelos; y por encima Desigual (99,95 €), Pedro del Hierro (119,00 €) y Adolfo Domínguez (130,00 €). Todas con menos de 15 modelos: es una tendencia, no una conclusión firme. En camisetas ninguna de estas marcas llega a 5 modelos básicos.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10 de las 20 combinaciones de marca y prenda que entran en las métricas, tres precios o menos cubren todo el catálogo de básicas. Y cada cadena tiene su firma en los céntimos: Zara y Massimo Dutti terminan en ,95; H&amp;M, Lefties, Mango y Tendam en ,99; Primark y Adolfo Domínguez usan precios enteros. Es un dato de apoyo, no un hallazgo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el precio alto de Zara y el bajo de Massimo Dutti hay poca oferta: el 16 % de los modelos en camisetas y el 3 % en vaqueros, sobre todo la cola de H&amp;M y, en camisetas, 4 modelos de Mango. Las marcas nuevas se quedan a los lados: Springfield por debajo y Cortefiel a la altura de Massimo Dutti. Ni siquiera con el precio rebajado se llena (15 % y 4 %): las rebajas lo saltan hacia 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Traducción práctica para un equipo de marketing. Primero decidir el tramo de precio de entrada; después, qué marcas son la referencia en ese tramo. La zona entre Zara y Massimo Dutti es la menos ocupada, pero es una oportunidad a investigar, no un hueco de mercado demostrado: no sabemos si hay demanda a ese 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 de criterio: antes de dar por buena una conclusión, ver si aguanta al ampliar la muestra. Con 16 cadenas, la escalera de Inditex, el duelo de la gama baja, "H&amp;M rodea a Zara" y el hueco siguen en pie. Cambian dos cosas: ya no hay solo dos choques frontales (Mango entra en la gama media) y Massimo Dutti ya no está aislado (Cortefiel, a precio de catálogo). Y aparece algo nuevo: Tendam también escalona.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es lo que hay que tener en cuenta antes de usar las conclusiones. La más importante sigue siendo la primera: describimos dónde están los precios, no por qué están ahí. Con la ampliación se añaden dos cautelas grandes: las rebajas de Tendam y las muestras pequeñas de las marcas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qué ha servido todo esto. Antes, "Zara compite con H&amp;M" o "Massimo Dutti está en otra liga" eran intuiciones; ahora son cifras comprobadas con dos métricas, dos anchos de tramo y el precio rebajado. Una marca de ropa puede usarlo para fijar su precio de entrada y saber contra quién se la va a comparar. Una agencia puede usarlo como base de un informe de precios para las marcas que asesora y repetirlo cada temporada con el mismo método. Lo que no hace: no dice cuánto se vende ni si hay demanda en un tramo; es el punto de partida para esas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completa de la vista v_resumen_precios para las marcas con 5 modelos o más. Las marcas con menos de 5 modelos básicos en una prenda no tienen cuartiles: aparecen como puntos sueltos en los gráficos.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cada pareja con un 30 % o más de solapamiento: la métrica principal (tramos de 5 € / 10 €), la misma con tramos de 4 € / 8 € y la misma con el precio rebajado. Una cifra que se hunde en cualquiera de las dos pruebas no se usa como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371600"/>
            <a:ext cx="5120640" cy="2651760"/>
          </a:xfrm>
        </p:spPr>
        <p:txBody>
          <a:bodyPr wrap="square" anchor="b" lIns="0" rIns="0"/>
          <a:lstStyle/>
          <a:p>
            <a:pPr algn="l"/>
            <a:r>
              <a:rPr sz="3800" b="1" i="0">
                <a:solidFill>
                  <a:srgbClr val="333333"/>
                </a:solidFill>
                <a:latin typeface="Calibri"/>
              </a:rPr>
              <a:t>¿Compiten de verdad en precio las grandes cadenas de moda en España?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206240"/>
            <a:ext cx="5120640" cy="914400"/>
          </a:xfrm>
        </p:spPr>
        <p:txBody>
          <a:bodyPr wrap="square" lIns="0" rIns="0"/>
          <a:lstStyle/>
          <a:p>
            <a:pPr algn="l"/>
            <a:r>
              <a:rPr sz="2000" b="0" i="0">
                <a:solidFill>
                  <a:srgbClr val="6B6B6B"/>
                </a:solidFill>
                <a:latin typeface="Calibri"/>
              </a:rPr>
              <a:t>Posicionamiento de precio de 16 cadenas a partir de su catálogo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321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Javier Benítez Escobedo</a:t>
            </a:r>
          </a:p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Datos recogidos el 10/10/2026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45759" y="4919293"/>
            <a:ext cx="676656" cy="1070026"/>
          </a:xfrm>
          <a:prstGeom prst="rect">
            <a:avLst/>
          </a:prstGeom>
          <a:solidFill>
            <a:srgbClr val="D3D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5759" y="4974157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18,00 €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4319" y="4626685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Primark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7279" y="4800996"/>
            <a:ext cx="676656" cy="1188323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7279" y="4855860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19,99 €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5839" y="4508388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A64A8"/>
                </a:solidFill>
                <a:latin typeface="Calibri"/>
              </a:rPr>
              <a:t>Lefties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08799" y="4206537"/>
            <a:ext cx="676656" cy="1782782"/>
          </a:xfrm>
          <a:prstGeom prst="rect">
            <a:avLst/>
          </a:prstGeom>
          <a:solidFill>
            <a:srgbClr val="D3D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8799" y="4261401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29,99 €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7359" y="3913929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Mango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0319" y="3909307"/>
            <a:ext cx="676656" cy="2080012"/>
          </a:xfrm>
          <a:prstGeom prst="rect">
            <a:avLst/>
          </a:prstGeom>
          <a:solidFill>
            <a:srgbClr val="D3D3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0319" y="3964171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Calibri"/>
              </a:rPr>
              <a:t>34,99 €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8879" y="3616699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H&amp;M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1839" y="3852239"/>
            <a:ext cx="676656" cy="2137080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1839" y="3907103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35,95 €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0399" y="3559631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A64A8"/>
                </a:solidFill>
                <a:latin typeface="Calibri"/>
              </a:rPr>
              <a:t>Zara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3359" y="3849861"/>
            <a:ext cx="676656" cy="2139458"/>
          </a:xfrm>
          <a:prstGeom prst="rect">
            <a:avLst/>
          </a:prstGeom>
          <a:solidFill>
            <a:srgbClr val="C85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3359" y="3904725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35,99 €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1919" y="3557253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8571B"/>
                </a:solidFill>
                <a:latin typeface="Calibri"/>
              </a:rPr>
              <a:t>Springfield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34879" y="2425537"/>
            <a:ext cx="676656" cy="3563782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34879" y="2480401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59,95 €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3439" y="1913473"/>
            <a:ext cx="859536" cy="4389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A64A8"/>
                </a:solidFill>
                <a:latin typeface="Calibri"/>
              </a:rPr>
              <a:t>Massimo</a:t>
            </a:r>
          </a:p>
          <a:p>
            <a:pPr algn="ctr"/>
            <a:r>
              <a:rPr sz="1100" b="1" i="0">
                <a:solidFill>
                  <a:srgbClr val="2A64A8"/>
                </a:solidFill>
                <a:latin typeface="Calibri"/>
              </a:rPr>
              <a:t>Dutti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66399" y="2423160"/>
            <a:ext cx="676656" cy="3566160"/>
          </a:xfrm>
          <a:prstGeom prst="rect">
            <a:avLst/>
          </a:prstGeom>
          <a:solidFill>
            <a:srgbClr val="C85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66399" y="2478024"/>
            <a:ext cx="676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59,99 €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74959" y="2130552"/>
            <a:ext cx="859536" cy="21945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8571B"/>
                </a:solidFill>
                <a:latin typeface="Calibri"/>
              </a:rPr>
              <a:t>Cortefiel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9999" y="6080759"/>
            <a:ext cx="6163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Altura de cada peldaño: precio mediano del vaquero básico (marcas con 15 modelos o más). Azul: Inditex. Naranja: Tendam.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Inditex y Tendam escalonan sus marcas; los choques de precio están en la gama baja y en la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2A64A8"/>
                </a:solidFill>
                <a:latin typeface="Calibri"/>
              </a:rPr>
              <a:t>×2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Cada escalón de Inditex cuesta aproximadamente el doble (×1,7 a ×2,0). Tendam repite el patrón un peldaño más arriba.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333333"/>
                </a:solidFill>
                <a:latin typeface="Calibri"/>
              </a:rPr>
              <a:t>97 %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92608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de solapamiento entre Lefties y Primark en vaqueros: el choque de la gama baja. Ninguna de las marcas nuevas entra ahí.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333333"/>
                </a:solidFill>
                <a:latin typeface="Calibri"/>
              </a:rPr>
              <a:t>78 %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2608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entre Mango y Zara en vaqueros. La gama media pasa a ser un choque a tres, con H&amp;M (87 % con Zara).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228600" rIns="228600" tIns="228600" bIns="228600"/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Massimo Dutti ya no está solo: Cortefiel coincide con él en precio de catálogo (91 % en vaqueros), aunque con el precio rebajado baja al 56 %.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1.697 modelos de 16 cadenas, comparando la misma prenda básica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45738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A64A8"/>
                </a:solidFill>
                <a:latin typeface="Calibri"/>
              </a:rPr>
              <a:t>Inditex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Lefties, Zara, Massimo Dutti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73 camisetas · 162 vaqueros básicos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2978" y="1371600"/>
            <a:ext cx="3545738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8571B"/>
                </a:solidFill>
                <a:latin typeface="Calibri"/>
              </a:rPr>
              <a:t>Tendam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Springfield, Cortefiel, Pedro del Hierro, Women'secret (fuera)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20 camisetas · 45 vaqueros básicos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7316" y="1371600"/>
            <a:ext cx="3545738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A7A7A"/>
                </a:solidFill>
                <a:latin typeface="Calibri"/>
              </a:rPr>
              <a:t>Mango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Mango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12 camisetas · 87 vaqueros básicos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45738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A7A7A"/>
                </a:solidFill>
                <a:latin typeface="Calibri"/>
              </a:rPr>
              <a:t>H&amp;M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H&amp;M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87 camisetas · 289 vaqueros básicos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2743200"/>
            <a:ext cx="3545738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A7A7A"/>
                </a:solidFill>
                <a:latin typeface="Calibri"/>
              </a:rPr>
              <a:t>Primark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Primark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23 camisetas · 45 vaqueros básicos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7316" y="2743200"/>
            <a:ext cx="3545738" cy="1188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37160" rIns="137160" tIns="137160" bIns="13716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A7A7A"/>
                </a:solidFill>
                <a:latin typeface="Calibri"/>
              </a:rPr>
              <a:t>Premium española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Desigual, Adolfo Domínguez, Bimba y Lola, Scalpers, El Ganso, Silbon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4 camisetas · 43 vaqueros básicos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339333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</a:rPr>
              <a:t>Qué se compara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Camiseta de manga larga y vaquero largo, sección mujer. Cada modelo cuenta una vez: las variantes de color no son filas nuevas.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178" y="4160520"/>
            <a:ext cx="339333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</a:rPr>
              <a:t>Qué es una prenda básica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Camiseta lisa o de canalé, sin estampado ni adornos. Vaquero de cualquier corte, sin rotos, tachas ni estampados. Se clasifica por el nombre.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4160520"/>
            <a:ext cx="339333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</a:rPr>
              <a:t>Qué entra en las métricas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Precio de catálogo, sin rebaja. Marcas con 5 modelos o más por prenda (de 5 a 14, muestra pequeña): 873 de las 890 básicas.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Azul: Inditex. Naranja: Tendam. El número de prendas es el de modelos básicos de las marcas que entran en el análisis.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Cada cadena ocupa su tramo: el vaquero mediano va de 18,00 € en Primark a 130,00 € en Adolfo Domínguez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pic>
        <p:nvPicPr>
          <p:cNvPr id="4" name="Picture 3" descr="01_escalera_16_mar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325880"/>
            <a:ext cx="102952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Cada escalón de Inditex cuesta casi el doble; Tendam repite el patrón un peldaño más arriba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pic>
        <p:nvPicPr>
          <p:cNvPr id="4" name="Picture 3" descr="02_escaleras_inditex_tend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9239"/>
            <a:ext cx="7589520" cy="4262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32201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Cálculo (medianas)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Camiseta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A64A8"/>
                </a:solidFill>
                <a:latin typeface="Calibri"/>
              </a:rPr>
              <a:t>Lefties → Zara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×2,0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(15,95 / 7,99)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A64A8"/>
                </a:solidFill>
                <a:latin typeface="Calibri"/>
              </a:rPr>
              <a:t>Zara → Massimo Dutti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×1,9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(29,95 / 15,95)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8571B"/>
                </a:solidFill>
                <a:latin typeface="Calibri"/>
              </a:rPr>
              <a:t>Springfield → Cortefiel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×1,7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(29,99 / 17,99)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Vaquero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A64A8"/>
                </a:solidFill>
                <a:latin typeface="Calibri"/>
              </a:rPr>
              <a:t>Lefties → Zara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×1,8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(35,95 / 19,99)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A64A8"/>
                </a:solidFill>
                <a:latin typeface="Calibri"/>
              </a:rPr>
              <a:t>Zara → Massimo Dutti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×1,7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(59,95 / 35,95)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8571B"/>
                </a:solidFill>
                <a:latin typeface="Calibri"/>
              </a:rPr>
              <a:t>Springfield → Cortefiel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×1,7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(59,99 / 35,99)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C8571B"/>
                </a:solidFill>
                <a:latin typeface="Calibri"/>
              </a:rPr>
              <a:t>Cortefiel → Pedro del Hierro 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×2,0</a:t>
            </a:r>
            <a:r>
              <a:rPr sz="1200" b="0" i="0">
                <a:solidFill>
                  <a:srgbClr val="6B6B6B"/>
                </a:solidFill>
                <a:latin typeface="Calibri"/>
              </a:rPr>
              <a:t>  (119,00 / 59,99)</a:t>
            </a:r>
          </a:p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Con el precio rebajado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el vaquero de Springfield baja a 25,19 € y el de Cortefiel a 49,99 €.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Hay cinco choques frontales de precio, y en la gama baja sigue habiendo solo uno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pic>
        <p:nvPicPr>
          <p:cNvPr id="4" name="Picture 3" descr="03_solapamiento_16_mar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899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La gama media es un choque a tres: Zara, H&amp;M y Mango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pic>
        <p:nvPicPr>
          <p:cNvPr id="4" name="Picture 3" descr="04_gama_media_zara_hm_man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9185"/>
            <a:ext cx="7589520" cy="39625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3057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Solapamiento en vaqueros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Mango – Zara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78 % (tramos de 8 €: 76 %)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H&amp;M – Mango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71 % (64 %)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H&amp;M – Zara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87 % (86 %)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En camisetas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Mango – Zara 66 % (tramos de 4 €: 81 %), con solo 12 camisetas de Mango: muestra pequeña.</a:t>
            </a:r>
          </a:p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Mango, el más barato de los tres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en vaquero: mediana 29,99 €, frente a 34,99 € de H&amp;M y 35,95 € de Zara.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H&amp;M rodea a Zara en camisetas; en vaqueros el choque es más frontal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pic>
        <p:nvPicPr>
          <p:cNvPr id="4" name="Picture 3" descr="05_hm_rodea_z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680960" cy="34532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49640" y="1463040"/>
            <a:ext cx="3093415" cy="374903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El espejismo de la media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H&amp;M parece más cara que Zara por la media, pero no por la mediana: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Camiseta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media H&amp;M 16,90 € &gt; Zara 16,39 €; mediana H&amp;M 14,99 € &lt; Zara 15,95 €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Vaquero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media H&amp;M 36,38 € &gt; Zara 34,41 €; mediana H&amp;M 34,99 € &lt; Zara 35,95 €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La cola cara de H&amp;M (camisetas de hasta 49,99 €, vaqueros de hasta 89,99 €) sube su media.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Cortefiel coincide con Massimo Dutti en precio de catálogo, pero con la rebaja se separa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pic>
        <p:nvPicPr>
          <p:cNvPr id="4" name="Picture 3" descr="05_cortefiel_massimo_du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3286"/>
            <a:ext cx="7589520" cy="3974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3057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A precio de catálogo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Solapamiento 91 % en vaqueros y 74 % en camisetas. Aguanta al cambiar los tramos.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Con el precio rebajado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56 % en vaqueros y 60 % en camisetas: Cortefiel se separa hacia abajo.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Lo que no sabemos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 qué precio se vende cada prenda. Si casi todo se vende rebajado, el precio de catálogo exagera la posición de Cortefiel.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Por encima de 60 € el vaquero se ordena en dos niveles, aunque con muestras pequeñas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pic>
        <p:nvPicPr>
          <p:cNvPr id="4" name="Picture 3" descr="08_vaquero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2976"/>
            <a:ext cx="7589520" cy="39350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3057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Nivel 1 · en torno a 60–80 €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Scalpers (69,99 €). Toca a Cortefiel (49 % de solapamiento) y a Massimo Dutti (43 %).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Nivel 2 · en torno a 90–135 €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Desigual, Pedro del Hierro y Adolfo Domínguez. Desigual – Pedro del Hierro: 71 % (con rebajas, 39 %).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Ancla de control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0 % de solapamiento entre cualquier marca de este tramo y Primark o Lefties: el método separa bien.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Las marcas repiten unos pocos precios; el x,95 lo usan sobre todo Zara y Massimo Dutti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291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333333"/>
                </a:solidFill>
                <a:latin typeface="Calibri"/>
              </a:rPr>
              <a:t>10 de 20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combinaciones de marca y prenda en las que 3 precios o menos cubren todo su catálogo de básicas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79" y="1463040"/>
            <a:ext cx="3535527" cy="2103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33333"/>
                </a:solidFill>
                <a:latin typeface="Calibri"/>
              </a:rPr>
              <a:t>,95</a:t>
            </a:r>
          </a:p>
          <a:p>
            <a:pPr algn="l"/>
            <a:r>
              <a:rPr sz="1400" b="1" i="0">
                <a:solidFill>
                  <a:srgbClr val="2A64A8"/>
                </a:solidFill>
                <a:latin typeface="Calibri"/>
              </a:rPr>
              <a:t>Zara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2A64A8"/>
                </a:solidFill>
                <a:latin typeface="Calibri"/>
              </a:rPr>
              <a:t>Massimo Dutti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7A7A7A"/>
                </a:solidFill>
                <a:latin typeface="Calibri"/>
              </a:rPr>
              <a:t>Desigual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64 %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7527" y="1463040"/>
            <a:ext cx="3535527" cy="2103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33333"/>
                </a:solidFill>
                <a:latin typeface="Calibri"/>
              </a:rPr>
              <a:t>,99</a:t>
            </a:r>
          </a:p>
          <a:p>
            <a:pPr algn="l"/>
            <a:r>
              <a:rPr sz="1400" b="1" i="0">
                <a:solidFill>
                  <a:srgbClr val="7A7A7A"/>
                </a:solidFill>
                <a:latin typeface="Calibri"/>
              </a:rPr>
              <a:t>H&amp;M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2A64A8"/>
                </a:solidFill>
                <a:latin typeface="Calibri"/>
              </a:rPr>
              <a:t>Lefties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7A7A7A"/>
                </a:solidFill>
                <a:latin typeface="Calibri"/>
              </a:rPr>
              <a:t>Mango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C8571B"/>
                </a:solidFill>
                <a:latin typeface="Calibri"/>
              </a:rPr>
              <a:t>Cortefiel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C8571B"/>
                </a:solidFill>
                <a:latin typeface="Calibri"/>
              </a:rPr>
              <a:t>Springfield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7A7A7A"/>
                </a:solidFill>
                <a:latin typeface="Calibri"/>
              </a:rPr>
              <a:t>Scalpers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79 %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3794760"/>
            <a:ext cx="3535527" cy="2103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33333"/>
                </a:solidFill>
                <a:latin typeface="Calibri"/>
              </a:rPr>
              <a:t>Enteros (,00)</a:t>
            </a:r>
          </a:p>
          <a:p>
            <a:pPr algn="l"/>
            <a:r>
              <a:rPr sz="1400" b="1" i="0">
                <a:solidFill>
                  <a:srgbClr val="7A7A7A"/>
                </a:solidFill>
                <a:latin typeface="Calibri"/>
              </a:rPr>
              <a:t>Adolfo Domínguez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100 % · </a:t>
            </a:r>
            <a:r>
              <a:rPr sz="1400" b="1" i="0">
                <a:solidFill>
                  <a:srgbClr val="7A7A7A"/>
                </a:solidFill>
                <a:latin typeface="Calibri"/>
              </a:rPr>
              <a:t>Primark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87 % · </a:t>
            </a:r>
            <a:r>
              <a:rPr sz="1400" b="1" i="0">
                <a:solidFill>
                  <a:srgbClr val="C8571B"/>
                </a:solidFill>
                <a:latin typeface="Calibri"/>
              </a:rPr>
              <a:t>Pedro del Hierro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60 % · </a:t>
            </a:r>
            <a:r>
              <a:rPr sz="1400" b="1" i="0">
                <a:solidFill>
                  <a:srgbClr val="7A7A7A"/>
                </a:solidFill>
                <a:latin typeface="Calibri"/>
              </a:rPr>
              <a:t>Desigual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36 %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7527" y="3794760"/>
            <a:ext cx="3535527" cy="2103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33333"/>
                </a:solidFill>
                <a:latin typeface="Calibri"/>
              </a:rPr>
              <a:t>,90</a:t>
            </a:r>
          </a:p>
          <a:p>
            <a:pPr algn="l"/>
            <a:r>
              <a:rPr sz="1400" b="1" i="0">
                <a:solidFill>
                  <a:srgbClr val="C8571B"/>
                </a:solidFill>
                <a:latin typeface="Calibri"/>
              </a:rPr>
              <a:t>Pedro del Hierro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40 % · </a:t>
            </a:r>
            <a:r>
              <a:rPr sz="1400" b="1" i="0">
                <a:solidFill>
                  <a:srgbClr val="7A7A7A"/>
                </a:solidFill>
                <a:latin typeface="Calibri"/>
              </a:rPr>
              <a:t>Scalpers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 21 %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Porcentaje de los modelos básicos de cada marca (camiseta y vaquero) con esa terminación. Solo se listan las marcas en las que la terminación pesa un 20 % o más.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Entre Zara y Massimo Dutti el hueco sigue casi vacío, ahora con vecinos a los dos lados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pic>
        <p:nvPicPr>
          <p:cNvPr id="4" name="Picture 3" descr="06_hueco_16_mar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325880"/>
            <a:ext cx="1001319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Para posicionar una marca: elegir primero el tramo y después contra quién compararse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10047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228600" rIns="228600" tIns="228600" bIns="228600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1. Gama baja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6B6B6B"/>
                </a:solidFill>
                <a:latin typeface="Calibri"/>
              </a:rPr>
              <a:t>Vaquero 18,00 €–19,99 € · camiseta 7,00 €–7,99 €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La referencia son Lefties y Primark. Ninguna de las 11 marcas nuevas entra en este tramo.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417320"/>
            <a:ext cx="5410047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228600" rIns="228600" tIns="228600" bIns="228600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2. Gama media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6B6B6B"/>
                </a:solidFill>
                <a:latin typeface="Calibri"/>
              </a:rPr>
              <a:t>Vaquero 29,99 €–35,95 € · camiseta 14,99 €–15,95 €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Compararse con Zara, H&amp;M y Mango a la vez. Springfield asoma por arriba, con rebajas casi permanentes.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5410047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228600" rIns="228600" tIns="228600" bIns="228600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3. Gama media-alta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6B6B6B"/>
                </a:solidFill>
                <a:latin typeface="Calibri"/>
              </a:rPr>
              <a:t>Vaquero 59,95 € · camiseta 29,95 €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Massimo Dutti y Cortefiel. Con Cortefiel, mirar también su precio rebajado.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3931920"/>
            <a:ext cx="5410047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228600" rIns="228600" tIns="228600" bIns="228600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4. Zona a investigar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6B6B6B"/>
                </a:solidFill>
                <a:latin typeface="Calibri"/>
              </a:rPr>
              <a:t>Camiseta 17,95 €–29,95 € · vaquero 39,95 €–49,95 €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La menos ocupada entre estas cadenas. Antes de decidir: ¿hay demanda a ese precio? ¿La ocupan marcas fuera del estudio, como COS o &amp; Other Stories?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Precios: medianas de catálogo de las prendas básicas, salvo la zona a investigar (P75 de Zara – P25 de Massimo Dutti).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Al añadir 11 marcas, cinco conclusiones se mantienen y dos cambian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554480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 mantiene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1371600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Inditex escalona sus marcas: cada escalón cuesta aproximadamente el doble.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84248"/>
            <a:ext cx="1554480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 mantiene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984248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Lefties–Primark es el único choque de la gama baja (97 % en vaqueros).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96896"/>
            <a:ext cx="1554480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 mantiene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2596896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H&amp;M rodea a Zara en camisetas y choca de frente con ella en vaqueros.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9544"/>
            <a:ext cx="1554480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 mantiene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3209544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Hay un hueco entre Zara y Massimo Dutti (16 % y 3 % de los modelos).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22191"/>
            <a:ext cx="1554480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 mantiene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3822191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El ancla de control funciona: 0 % entre las marcas premium y Primark o Lefties.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554480" cy="530352"/>
          </a:xfrm>
          <a:prstGeom prst="rect">
            <a:avLst/>
          </a:prstGeom>
          <a:solidFill>
            <a:srgbClr val="C8571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Cambia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4434840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"Solo dos choques frontales" → cinco. Mango entra en la gama media (78 % con Zara en vaqueros).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47488"/>
            <a:ext cx="1554480" cy="530352"/>
          </a:xfrm>
          <a:prstGeom prst="rect">
            <a:avLst/>
          </a:prstGeom>
          <a:solidFill>
            <a:srgbClr val="C8571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Cambia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5047488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"Massimo Dutti está aislado" → Cortefiel coincide con él a precio de catálogo (91 %; 56 % con rebajas).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0136"/>
            <a:ext cx="1554480" cy="530352"/>
          </a:xfrm>
          <a:prstGeom prst="rect">
            <a:avLst/>
          </a:prstGeom>
          <a:solidFill>
            <a:srgbClr val="2A64A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Nuevo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5660136"/>
            <a:ext cx="9402775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164592" rIns="164592" tIns="164592" bIns="164592"/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Tendam también escalona (×1,7 y ×2,0), un peldaño por encima de Inditex.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Lo que este análisis no 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Posicionamiento, no estrategia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La escalera puede ser una segmentación buscada o prendas de distinto material. Sin la composición, no se distinguen.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90823" y="13716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Una foto de un solo día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10/10/2026, precio de catálogo. Springfield tenía el 90 % rebajado y Cortefiel el 41 %: su catálogo puede exagerar su precio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3716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Muestras pequeñas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Las marcas premium solo tienen muestra en vaqueros, y de 7 a 14 modelos. Con menos de 5 no se calcula nada.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75191" y="13716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Básicas por palabras clave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Por el nombre del producto. En 5 marcas, la manga larga se filtró leyendo la ficha; en 4, el vaquero por la palabra "denim".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Marcas fuera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Shein (protección anti-bot) y Women'secret (lencería y homewear, sin vaqueros).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823" y="38862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Sublíneas y marcas invitadas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H&amp;M, Zara y Primark mezclan sublíneas. Se excluyeron las marcas invitadas de Tendam y Scalpers.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8862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Qué es un modelo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Lo que la web trata como referencia propia. En H&amp;M y Mango, cada lavado de un vaquero cuenta como modelo.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75191" y="3886200"/>
            <a:ext cx="2567863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t" wrap="square" lIns="182880" rIns="182880" tIns="182880" bIns="18288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33333"/>
                </a:solidFill>
                <a:latin typeface="Calibri"/>
              </a:rPr>
              <a:t>Medidas aproximadas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Cuartiles con NTILE(4). El solapamiento depende del ancho del tramo: se probó con dos anchos y con el precio rebajado.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Conclusión: un mapa de precios para decidir dónde entrar y contra quién medirse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685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rtlCol="0" anchor="ctr" wrap="square" lIns="201168" rIns="201168" tIns="201168" bIns="201168"/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Qué aporta: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un mapa del precio de catálogo de 16 cadenas, comprobado con dos métricas, dos anchos de tramo y el precio rebajado, que dice en qué tramo está cada una y con quién comparte precios.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5364327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Una marca de ropa podría…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1. Fijar su precio de entrada con referencia: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un vaquero entre 29,95 € y 39,95 € se medirá a la vez con Zara, H&amp;M y Mango; por debajo de 19,99 €, con Lefties y Primark.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2. Separar sus propias líneas sin pisarse: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Inditex y Tendam separan cada escalón casi al doble de precio; es una referencia de cuánta distancia dejar entre línea básica y línea premium.</a:t>
            </a:r>
          </a:p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3. Plantear una hipótesis de entrada: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la zona entre Zara y Massimo Dutti (vaquero 39,95 €–49,95 €) es la menos ocupada. Hay que validar la demanda antes de lanzar 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240280"/>
            <a:ext cx="5364327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Una agencia podría…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1. Ofrecer un informe de posicionamiento de precio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a las marcas que asesora: dónde están, contra quién se comparan y qué huecos quedan, con cifras.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2. Repetir la foto cada temporada: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el proceso es reproducible (mismas reglas, mismas métricas). Basta un catálogo nuevo para ver quién sube, quién baja y cómo afectan las rebajas.</a:t>
            </a:r>
          </a:p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3. Exigir pruebas antes de afirmar: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un choque de precio solo se da por bueno si aguanta al cambiar los tramos y con el precio rebajado. Aquí, 4 de los 11 solapamientos por encima del 50 % caían 20 puntos o más.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Calibri"/>
              </a:rPr>
              <a:t>Lo que no sustituye: </a:t>
            </a:r>
            <a:r>
              <a:rPr sz="1400" b="0" i="0">
                <a:solidFill>
                  <a:srgbClr val="6B6B6B"/>
                </a:solidFill>
                <a:latin typeface="Calibri"/>
              </a:rPr>
              <a:t>no mide ventas ni demanda. Es el punto de partida para preguntarlas, no la respuesta.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Anexo A: distribución de precios de las marcas que entran en las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193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Camiseta de manga larga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19379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1480"/>
                <a:gridCol w="658368"/>
                <a:gridCol w="731520"/>
                <a:gridCol w="658368"/>
                <a:gridCol w="658368"/>
                <a:gridCol w="658368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Marca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P25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Máx.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Primark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4,50 €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6,50 €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A64A8"/>
                          </a:solidFill>
                          <a:latin typeface="Calibri"/>
                        </a:rPr>
                        <a:t>Lefties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8,10 €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H&amp;M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16,90 €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A64A8"/>
                          </a:solidFill>
                          <a:latin typeface="Calibri"/>
                        </a:rPr>
                        <a:t>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12,95 €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15,95 €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16,39 €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Mango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12*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15,99 €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15,99 €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17,32 €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8571B"/>
                          </a:solidFill>
                          <a:latin typeface="Calibri"/>
                        </a:rPr>
                        <a:t>Springfield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22,99 €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18,82 €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A64A8"/>
                          </a:solidFill>
                          <a:latin typeface="Calibri"/>
                        </a:rPr>
                        <a:t>Massimo Dutti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33,52 €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8571B"/>
                          </a:solidFill>
                          <a:latin typeface="Calibri"/>
                        </a:rPr>
                        <a:t>Cortefiel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30,59 €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99631" y="1280160"/>
            <a:ext cx="5193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Vaquero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9631" y="1645920"/>
          <a:ext cx="519379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1480"/>
                <a:gridCol w="658368"/>
                <a:gridCol w="731520"/>
                <a:gridCol w="658368"/>
                <a:gridCol w="658368"/>
                <a:gridCol w="658368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Marca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P25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Máx.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Primark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18,00 €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18,00 €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24,00 €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17,20 €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A64A8"/>
                          </a:solidFill>
                          <a:latin typeface="Calibri"/>
                        </a:rPr>
                        <a:t>Lefties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17,99 €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25,99 €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19,24 €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Mango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33,88 €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H&amp;M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34,99 €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36,38 €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A64A8"/>
                          </a:solidFill>
                          <a:latin typeface="Calibri"/>
                        </a:rPr>
                        <a:t>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34,41 €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8571B"/>
                          </a:solidFill>
                          <a:latin typeface="Calibri"/>
                        </a:rPr>
                        <a:t>Springfield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36,83 €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A64A8"/>
                          </a:solidFill>
                          <a:latin typeface="Calibri"/>
                        </a:rPr>
                        <a:t>Massimo Dutti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56,51 €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8571B"/>
                          </a:solidFill>
                          <a:latin typeface="Calibri"/>
                        </a:rPr>
                        <a:t>Cortefiel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58,12 €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Scalpers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79,99 €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66,40 €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Desigual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99,95 €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119,00 €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119,00 €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102,47 €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8571B"/>
                          </a:solidFill>
                          <a:latin typeface="Calibri"/>
                        </a:rPr>
                        <a:t>Pedro del Hierro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99,90 €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119,00 €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119,00 €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129,00 €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112,36 €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A7A7A"/>
                          </a:solidFill>
                          <a:latin typeface="Calibri"/>
                        </a:rPr>
                        <a:t>Adolfo Domínguez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95,00 €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130,00 €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130,00 €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130,00 €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115,00 €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* Muestra pequeña (5–14 modelos). Cuartiles aproximados con NTILE(4). Fuente: catálogo online de cada marca en España (sección mujer), 10/10/2026. Precio de catálogo, prendas básicas.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wrap="square" anchor="t" lIns="0" rIns="0"/>
          <a:lstStyle/>
          <a:p>
            <a:pPr algn="l"/>
            <a:r>
              <a:rPr sz="2800" b="1" i="0">
                <a:solidFill>
                  <a:srgbClr val="333333"/>
                </a:solidFill>
                <a:latin typeface="Calibri"/>
              </a:rPr>
              <a:t>Anexo B: robustez del solapamiento y sensibilidad a las rebajas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67512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914400"/>
                <a:gridCol w="960120"/>
                <a:gridCol w="960120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Pareja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Prenda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Principal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4 € / 8 €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333333"/>
                          </a:solidFill>
                          <a:latin typeface="Calibri"/>
                        </a:rPr>
                        <a:t>Rebajado</a:t>
                      </a:r>
                    </a:p>
                  </a:txBody>
                  <a:tcPr marL="54864" marR="54864" marT="9144" marB="9144" anchor="ctr">
                    <a:solidFill>
                      <a:srgbClr val="F3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Mango – Springfield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83 %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33 %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Cortefiel – Massimo Dutti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74 %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74 %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Springfield – 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42 %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24 %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Mango – 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74 %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Lefties – Primark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52 %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72 %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52 %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47 %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47 %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Primark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35 %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Lefties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camiseta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12 %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Lefties – Primark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97 %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82 %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97 %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Cortefiel – Massimo Dutti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91 %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87 %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87 %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Mango – 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78 %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69 %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Desigual – Pedro del Hierro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39 %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Mango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71 %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64 %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68 %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Cortefiel – Scalpers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49 %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49 %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38 %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Springfield – Zara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55 %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H&amp;M – Springfield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45 %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45 %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43 %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Massimo Dutti – Scalpers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43 %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43 %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43 %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Adolfo Domínguez – Pedro del Hierro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40 %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10 %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Adolfo Domínguez – Desigual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vaquero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14 %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333333"/>
                          </a:solidFill>
                          <a:latin typeface="Calibri"/>
                        </a:rPr>
                        <a:t>36 %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325880"/>
            <a:ext cx="4053535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Métrica principal: solapamiento por tramos.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Se reparte el catálogo de cada marca en tramos de precio (5 € en camiseta, 10 € en vaquero) y se suma, tramo a tramo, la menor de las dos proporciones. 0 % = no comparten ningún tramo; 100 % = mismo reparto.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Sensibilidad a las rebajas.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Se repite todo con el precio que marcaba la web ese día. Inditex, H&amp;M, Primark y Mango no cambian; Tendam baja: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Springfield 35,99 € → 25,19 €;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Cortefiel 59,99 € → 49,99 € (mediana del vaquero).</a:t>
            </a:r>
          </a:p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Unidad.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Un modelo, deduplicado por referencia. Las 5 marcas originales reproducen exactamente las cifras del primer análisis (lo comprueba scripts/construir_bd.py).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Fuente: catálogo online de cada marca en España (sección mujer), 10/10/2026. Precio de catálogo, prendas básicas.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