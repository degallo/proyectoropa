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de partida: dónde se posiciona en precio cada gran cadena de moda en España y con quién se solapa. En concreto: ¿escalona Inditex sus marcas sin pisarse, y dónde chocan con sus rivales? Es un análisis de precio de catálogo, no de ventas ni de cuota.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historia en una frase: Inditex coloca Lefties, Zara y Massimo Dutti en tramos de precio distintos, y cada tramo cuesta aproximadamente el doble que el anterior. Los dos únicos sitios donde dos cadenas comparten casi el mismo reparto de precios son Lefties–Primark en la gama baja y Zara–H&amp;M en la media. El resto del deck enseña cómo se llega a esto y por qué aguanta.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cadenas elegidas por su papel en el abanico de precios. Massimo Dutti hace de control: si saliera solapada con Primark, el método estaría mal (y sale con 0 %). Comparamos solo prendas básicas, que son las más comparables entre marcas y no dependen del calendario de colección.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barra es el 50 % central de los modelos de una marca y el punto, su precio mediano. Las tres marcas de Inditex, en azul, no se tocan: Lefties abajo, Zara en medio y Massimo Dutti arriba. Lefties y Massimo Dutti tienen pocos modelos de camiseta (9 y 14), pero sus precios apenas varían.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 gráfico, dos prendas. El orden de las marcas es idéntico en las dos: Primark, Lefties, H&amp;M, Zara y Massimo Dutti. Que el patrón se repita en una prenda con otro nivel de precio hace más creíble que no sea casualidad de una categoría.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Dividimos la mediana de cada escalón entre la del anterior. Sale entre 1,7 y 2 veces en las dos prendas. Para comprobar que no es un efecto de usar la mediana, lo repetimos con las medias y sale prácticamente lo mismo. Ojo: esto describe precios; no demuestra por qué Inditex los fija así.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Medimos cuánto se parecen los repartos de precio de cada pareja de marcas, por tramos. Dos parejas destacan en las dos prendas y siguen destacando si cambiamos el ancho de los tramos (la rayita negra). H&amp;M–Lefties parece alto en camisetas (31 %), pero con tramos de 4 € baja al 12 %: era un efecto de dónde caen los cortes, no un solapamiento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camisetas, H&amp;M tiene tanta oferta por debajo de la franja central de Zara (31 %) como dentro (37 %) o por encima (32 %). Para Zara, H&amp;M es su competidor directo; para H&amp;M, Zara es uno de varios. En vaqueros, el 70 % de H&amp;M cae dentro de la franja de Zara: ahí chocan de frente. Y una advertencia: si miras la media, H&amp;M parece más cara que Zara; con la mediana es al revés. La media la sube una cola de productos caros de la propia H&amp;M.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marca repite unos pocos precios. Massimo Dutti solo usa dos por prenda. Zara concentra tres cuartas partes de su catálogo en tres precios. H&amp;M dispersa más, aunque en parte porque tiene muchos más modelos. Y cada cadena tiene su firma en los céntimos.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 el precio alto de Zara y el bajo de Massimo Dutti hay una zona con poca oferta: el 15 % de los modelos en camisetas y solo el 4 % en vaqueros. Lo que hay es sobre todo la cola de H&amp;M. Es una oportunidad a investigar, no un hueco de mercado demostrado: no sabemos si hay demanda a ese precio, y marcas que no están en el estudio (Mango, COS, &amp; Other Stories) podrían ocuparlo.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 es lo que hay que tener en cuenta antes de usar las conclusiones. La más importante es la primera: describimos dónde están los precios, no por qué están ahí.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Tabla completa de precios y prueba de robustez del solapamiento. La métrica principal es la de tramos; la de franja central solo se usa como apoyo, porque se rompe con precios redondos casi iguales (29,95 € frente a 29,99 €).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828800"/>
            <a:ext cx="7680960" cy="2011680"/>
          </a:xfrm>
        </p:spPr>
        <p:txBody>
          <a:bodyPr wrap="square" anchor="b"/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¿Compiten de verdad en precio las grandes cadenas de moda en España?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4023360"/>
            <a:ext cx="7680960" cy="914400"/>
          </a:xfrm>
        </p:spPr>
        <p:txBody>
          <a:bodyPr wrap="square"/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Posicionamiento de precio de Primark, Lefties, H&amp;M, Zara y Massimo Dutti a partir de su catálogo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Javi  ·  Datos recogidos el 10/10/2026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0" y="4206240"/>
            <a:ext cx="640080" cy="914400"/>
          </a:xfrm>
          <a:prstGeom prst="rect">
            <a:avLst/>
          </a:prstGeom>
          <a:solidFill>
            <a:srgbClr val="2A6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29800" y="3291839"/>
            <a:ext cx="640080" cy="1828800"/>
          </a:xfrm>
          <a:prstGeom prst="rect">
            <a:avLst/>
          </a:prstGeom>
          <a:solidFill>
            <a:srgbClr val="2A6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2377439"/>
            <a:ext cx="640080" cy="2743200"/>
          </a:xfrm>
          <a:prstGeom prst="rect">
            <a:avLst/>
          </a:prstGeom>
          <a:solidFill>
            <a:srgbClr val="2A6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Inditex escalona sus marcas sin pisarse; solo hay dos choques frontales de precio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2A64A8"/>
                </a:solidFill>
                <a:latin typeface="Calibri"/>
              </a:rPr>
              <a:t>×2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Cada escalón de Inditex (Lefties → Zara → Massimo Dutti) cuesta aproximadamente el doble que el anterior (×1,7 a ×2,0), en camisetas y en vaqueros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82880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333333"/>
                </a:solidFill>
                <a:latin typeface="Calibri"/>
              </a:rPr>
              <a:t>97 %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01752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de solapamiento de precio entre Lefties y Primark en vaqueros: el choque de la gama baja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333333"/>
                </a:solidFill>
                <a:latin typeface="Calibri"/>
              </a:rPr>
              <a:t>87 %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01752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de solapamiento de precio entre H&amp;M y Zara en vaqueros: el choque de la gama media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572000"/>
            <a:ext cx="11094415" cy="7315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ctr" wrap="square" lIns="228600" rIns="228600" tIns="228600" bIns="228600"/>
          <a:lstStyle/>
          <a:p>
            <a:pPr algn="l"/>
            <a:r>
              <a:rPr sz="1600" b="0" i="0">
                <a:solidFill>
                  <a:srgbClr val="6B6B6B"/>
                </a:solidFill>
                <a:latin typeface="Calibri"/>
              </a:rPr>
              <a:t>Fuera de esas dos parejas, ningún par de marcas supera el 35 % de solapamiento en camisetas ni el 20 % en vaqueros.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1.211 modelos de 5 cadenas, comparando la misma prenda básica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048256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64592" rIns="164592" tIns="164592" bIns="164592"/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7A7A7A"/>
                </a:solidFill>
                <a:latin typeface="Calibri"/>
              </a:rPr>
              <a:t>Primark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Low cost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23 camisetas · 45 vaqueros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807208" y="1554480"/>
            <a:ext cx="2048256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64592" rIns="164592" tIns="164592" bIns="164592"/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A64A8"/>
                </a:solidFill>
                <a:latin typeface="Calibri"/>
              </a:rPr>
              <a:t>Lefties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Low cost · Inditex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9 camisetas · 28 vaqueros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5776" y="1554480"/>
            <a:ext cx="2048256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64592" rIns="164592" tIns="164592" bIns="164592"/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7A7A7A"/>
                </a:solidFill>
                <a:latin typeface="Calibri"/>
              </a:rPr>
              <a:t>H&amp;M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Gama media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87 camisetas · 289 vaqueros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24344" y="1554480"/>
            <a:ext cx="2048256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64592" rIns="164592" tIns="164592" bIns="164592"/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A64A8"/>
                </a:solidFill>
                <a:latin typeface="Calibri"/>
              </a:rPr>
              <a:t>Zara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Gama media · Inditex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50 camisetas · 101 vaqueros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9582912" y="1554480"/>
            <a:ext cx="2048256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64592" rIns="164592" tIns="164592" bIns="164592"/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A64A8"/>
                </a:solidFill>
                <a:latin typeface="Calibri"/>
              </a:rPr>
              <a:t>Massimo Dutti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Gama media-alta · Inditex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14 camisetas · 33 vaqueros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339333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333333"/>
                </a:solidFill>
                <a:latin typeface="Calibri"/>
              </a:rPr>
              <a:t>Qué se compara</a:t>
            </a:r>
          </a:p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Camiseta de manga larga y vaquero largo, sección mujer. Cada modelo cuenta una vez: las variantes de color no son filas nuevas.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178" y="3749039"/>
            <a:ext cx="339333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333333"/>
                </a:solidFill>
                <a:latin typeface="Calibri"/>
              </a:rPr>
              <a:t>Qué es una prenda básica</a:t>
            </a:r>
          </a:p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Camiseta lisa o de canalé, sin estampado ni adornos. Vaquero de cualquier corte, sin rotos, tachas ni estampados. Se clasifica por el nombre del producto.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9716" y="3749039"/>
            <a:ext cx="339333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333333"/>
                </a:solidFill>
                <a:latin typeface="Calibri"/>
              </a:rPr>
              <a:t>De dónde salen los datos</a:t>
            </a:r>
          </a:p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Web española de cada marca, 10/10/2026. Precio de catálogo, sin rebajas activas. De 1.211 modelos, 679 son básicas.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En azul, las tres marcas de Inditex. El número de prendas es el de modelos básicos.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En camisetas, cada marca de Inditex ocupa su propio tramo de precio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pic>
        <p:nvPicPr>
          <p:cNvPr id="4" name="Picture 3" descr="01_escalera_camis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315200" cy="39749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554480"/>
            <a:ext cx="3413455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Tres tramos sin contacto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Lefties 7,99 €, Zara 15,95 € y Massimo Dutti 29,95 € de mediana.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Dos vecindarios compartidos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Primark y Lefties en la gama baja; H&amp;M y Zara en la media.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Muestra pequeña, precios estables</a:t>
            </a:r>
          </a:p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Lefties (9 modelos) va de 6,99 € a 9,99 €; Massimo Dutti (14), de 29,95 € a 39,95 €.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En vaqueros se repite el mismo patrón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pic>
        <p:nvPicPr>
          <p:cNvPr id="4" name="Picture 3" descr="02_escalera_camiseta_vaqu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11094415" cy="44390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9788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El orden por precio mediano es el mismo en las dos prendas: Primark &lt; Lefties &lt; H&amp;M ≈ Zara &lt; Massimo Dutti.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Cada escalón de Inditex cuesta aproximadamente el doble que el anterior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pic>
        <p:nvPicPr>
          <p:cNvPr id="4" name="Picture 3" descr="03_ratios_escal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406640" cy="34456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463040"/>
            <a:ext cx="332201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Cálculo (medianas)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Camiseta: 15,95 € / 7,99 € = 2,00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Camiseta: 29,95 € / 15,95 € = 1,88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Vaquero: 35,95 € / 19,99 € = 1,80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Vaquero: 59,95 € / 35,95 € = 1,67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Comprobación con medias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Camiseta ×2,0 y ×2,0; vaquero ×1,8 y ×1,6.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Lo que no sabemos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Sin la composición del tejido no se puede distinguir si el salto es una segmentación buscada o prendas de distinto material.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Solo hay dos enfrentamientos directos: Lefties–Primark y Zara–H&amp;M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pic>
        <p:nvPicPr>
          <p:cNvPr id="4" name="Picture 3" descr="04_solapamiento_parej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1095038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7220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H&amp;M–Lefties (31 % en camisetas) no se sostiene: con tramos de 4 € baja al 12 %.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H&amp;M rodea a Zara en camisetas; en vaqueros el choque es más frontal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pic>
        <p:nvPicPr>
          <p:cNvPr id="4" name="Picture 3" descr="05_hm_rodea_za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680960" cy="34532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49640" y="1463040"/>
            <a:ext cx="3093415" cy="35661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El espejismo de la media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H&amp;M parece más cara que Zara por la media, pero no por la mediana: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Camiseta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media H&amp;M 16,90 € &gt; Zara 16,39 €; mediana H&amp;M 14,99 € &lt; Zara 15,95 €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Vaquero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media H&amp;M 36,38 € &gt; Zara 34,41 €; mediana H&amp;M 34,99 € &lt; Zara 35,95 €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La cola cara de H&amp;M (camisetas de hasta 49,99 €, vaqueros de hasta 89,99 €) sube su media.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Cada marca repite unos pocos precios; Massimo Dutti usa solo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  <p:pic>
        <p:nvPicPr>
          <p:cNvPr id="4" name="Picture 3" descr="06_arquitectura_prec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11094415" cy="38542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532120"/>
            <a:ext cx="3515258" cy="5486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ctr" wrap="square" lIns="164592" rIns="164592" tIns="164592" bIns="164592"/>
          <a:lstStyle/>
          <a:p>
            <a:pPr algn="l"/>
            <a:r>
              <a:rPr sz="2000" b="1" i="0">
                <a:solidFill>
                  <a:srgbClr val="333333"/>
                </a:solidFill>
                <a:latin typeface="Calibri"/>
              </a:rPr>
              <a:t>,95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Zara y Massimo Dutti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8218" y="5532120"/>
            <a:ext cx="3515258" cy="5486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ctr" wrap="square" lIns="164592" rIns="164592" tIns="164592" bIns="164592"/>
          <a:lstStyle/>
          <a:p>
            <a:pPr algn="l"/>
            <a:r>
              <a:rPr sz="2000" b="1" i="0">
                <a:solidFill>
                  <a:srgbClr val="333333"/>
                </a:solidFill>
                <a:latin typeface="Calibri"/>
              </a:rPr>
              <a:t>,99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Lefties y H&amp;M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7796" y="5532120"/>
            <a:ext cx="3515258" cy="5486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ctr" wrap="square" lIns="164592" rIns="164592" tIns="164592" bIns="164592"/>
          <a:lstStyle/>
          <a:p>
            <a:pPr algn="l"/>
            <a:r>
              <a:rPr sz="2000" b="1" i="0">
                <a:solidFill>
                  <a:srgbClr val="333333"/>
                </a:solidFill>
                <a:latin typeface="Calibri"/>
              </a:rPr>
              <a:t>Enteros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Primark (87 %; el resto, x,50)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Entre Zara y Massimo Dutti queda un hueco de precio poco ocupado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  <p:pic>
        <p:nvPicPr>
          <p:cNvPr id="4" name="Picture 3" descr="07_hueco_escal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680960" cy="30733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9640" y="1463040"/>
            <a:ext cx="309341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Para quien posiciona una marca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1. Gama baja: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el precio de referencia lo marcan Lefties y Primark (vaquero en torno a 18,00 €–19,99 €).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2. Gama media: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compararse con Zara y H&amp;M a la vez (vaquero 29,95 €–39,95 €).</a:t>
            </a:r>
          </a:p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3. Zona a investigar: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camiseta 17,95 €–29,95 € y vaquero 39,95 €–49,95 €, la menos ocupada entre estas cinco marcas.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00600"/>
            <a:ext cx="7680960" cy="8686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ctr" wrap="square" lIns="182880" rIns="182880" tIns="182880" bIns="182880"/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Antes de decidir, validar: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¿hay demanda a ese precio? ¿Lo ocupan marcas fuera del estudio, como Mango, COS o &amp; Other Stories?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Lo que este análisis no 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2567863" cy="2148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Posicionamiento, no estrategia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La escalera puede ser una segmentación buscada o prendas de distinto material. Sin la composición, no se distinguen.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390823" y="1417320"/>
            <a:ext cx="2567863" cy="2148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Una foto de un solo día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10/10/2026, sin rebajas activas. Precio de catálogo, no precio de venta ni volumen vendido.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1417320"/>
            <a:ext cx="2567863" cy="2148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Shein, fuera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Excluida por inaccesibilidad de los datos (protección anti-bot).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9075191" y="1417320"/>
            <a:ext cx="2567863" cy="2148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Básicas por palabras clave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Se clasificaron por el nombre del producto: puede haber errores puntuales.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40480"/>
            <a:ext cx="2567863" cy="2148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Muestras pequeñas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Lefties (9) y Massimo Dutti (14) en camisetas, por debajo de 15 modelos. Sus precios apenas varían.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0823" y="3840480"/>
            <a:ext cx="2567863" cy="2148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Sublíneas dentro de cada marca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H&amp;M incluye líneas premium; Zara (TRF, Z1975, ZW Collection) y Primark (The Edit) también mezclan sublíneas.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3840480"/>
            <a:ext cx="2567863" cy="2148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Medidas aproximadas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Cuartiles con NTILE(4). El solapamiento depende del ancho del tramo: se probó con dos anchos.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75191" y="3840480"/>
            <a:ext cx="2567863" cy="2148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Cinco marcas, no todo el mercado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Mango, COS o &amp; Other Stories podrían ocupar el hueco entre Zara y Massimo Dutti.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Anexo: método y robustez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667512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234440"/>
                <a:gridCol w="457200"/>
                <a:gridCol w="822960"/>
                <a:gridCol w="822960"/>
                <a:gridCol w="822960"/>
                <a:gridCol w="822960"/>
                <a:gridCol w="82296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Prenda</a:t>
                      </a:r>
                    </a:p>
                  </a:txBody>
                  <a:tcPr marL="54864" marR="54864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Marca</a:t>
                      </a:r>
                    </a:p>
                  </a:txBody>
                  <a:tcPr marL="54864" marR="54864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P25</a:t>
                      </a:r>
                    </a:p>
                  </a:txBody>
                  <a:tcPr marL="54864" marR="54864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L="54864" marR="54864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P75</a:t>
                      </a:r>
                    </a:p>
                  </a:txBody>
                  <a:tcPr marL="54864" marR="54864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Máx.</a:t>
                      </a:r>
                    </a:p>
                  </a:txBody>
                  <a:tcPr marL="54864" marR="54864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4864" marR="54864" marT="18288" marB="18288">
                    <a:solidFill>
                      <a:srgbClr val="F3F3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Camiseta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Primark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4,50 €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7,00 €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8,00 €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10,00 €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6,50 €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Camiseta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Lefties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9*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7,99 €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7,99 €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7,99 €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9,99 €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8,10 €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Camiseta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H&amp;M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9,99 €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14,99 €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19,99 €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49,99 €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16,90 €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Camiseta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Zara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12,95 €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15,95 €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17,95 €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29,95 €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16,39 €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Camiseta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Massimo Dutti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14*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29,95 €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29,95 €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39,95 €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39,95 €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33,52 €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Primark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14,00 €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18,00 €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18,00 €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24,00 €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17,20 €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Lefties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17,99 €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19,99 €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19,99 €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25,99 €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19,24 €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H&amp;M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289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29,99 €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34,99 €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39,99 €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89,99 €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36,38 €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Zara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29,95 €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35,95 €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39,95 €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59,95 €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34,41 €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Massimo Dutti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49,95 €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59,95 €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59,95 €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59,95 €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56,51 €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33672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* Muestra pequeña (menos de 15 modelos). Cuartiles aproximados con NTILE(4).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89520" y="1325880"/>
          <a:ext cx="4050792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658368"/>
                <a:gridCol w="658368"/>
                <a:gridCol w="658368"/>
                <a:gridCol w="658368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Pareja</a:t>
                      </a:r>
                    </a:p>
                  </a:txBody>
                  <a:tcPr marL="54864" marR="54864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Cam. 5 €</a:t>
                      </a:r>
                    </a:p>
                  </a:txBody>
                  <a:tcPr marL="54864" marR="54864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Vaq. 10 €</a:t>
                      </a:r>
                    </a:p>
                  </a:txBody>
                  <a:tcPr marL="54864" marR="54864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Cam. 4 €</a:t>
                      </a:r>
                    </a:p>
                  </a:txBody>
                  <a:tcPr marL="54864" marR="54864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Vaq. 8 €</a:t>
                      </a:r>
                    </a:p>
                  </a:txBody>
                  <a:tcPr marL="54864" marR="54864" marT="18288" marB="18288">
                    <a:solidFill>
                      <a:srgbClr val="F3F3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Lefties – Primark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52 %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72 %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H&amp;M – Zara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47 %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87 %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60 %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86 %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H&amp;M – Primark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35 %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20 %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31 %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12 %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H&amp;M – Lefties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31 %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17 %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12 %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Lefties – Zara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14 %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Massimo Dutti – Zara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3666744"/>
            <a:ext cx="4053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333333"/>
                </a:solidFill>
                <a:latin typeface="Calibri"/>
              </a:rPr>
              <a:t>Métrica principal: solapamiento por tramos.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Se reparte el catálogo de cada marca en tramos de precio (5 € en camiseta, 10 € en vaquero) y se suma, tramo a tramo, la menor de las dos proporciones. 0 % = no comparten ningún tramo; 100 % = mismo reparto. Las dos últimas columnas repiten el cálculo con 4 € y 8 €.</a:t>
            </a:r>
          </a:p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Métrica de apoyo: franja central.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% de los modelos de una marca que caen entre el P25 y el P75 de otra. Se rompe con precios redondos casi iguales (29,95 € frente a 29,99 €).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Fuente: catálogo online de cada marca en España (sección mujer), 10/10/2026. Prendas básicas.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